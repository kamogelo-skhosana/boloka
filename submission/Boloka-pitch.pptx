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10eb81adcd4ffd" /><Relationship Type="http://schemas.openxmlformats.org/officeDocument/2006/relationships/extended-properties" Target="/docProps/app.xml" Id="R084206a2b0394d3c" /><Relationship Type="http://schemas.openxmlformats.org/officeDocument/2006/relationships/officeDocument" Target="/ppt/presentation.xml" Id="R512ebc3c8f5648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58bb5a89944fb7"/>
  </p:sldMasterIdLst>
  <p:notesMasterIdLst>
    <p:notesMasterId xmlns:r="http://schemas.openxmlformats.org/officeDocument/2006/relationships" r:id="R3d4bf22d37574caf"/>
  </p:notesMasterIdLst>
  <p:sldIdLst>
    <p:sldId xmlns:r="http://schemas.openxmlformats.org/officeDocument/2006/relationships" id="256" r:id="Re49067a6c10b43c0"/>
    <p:sldId xmlns:r="http://schemas.openxmlformats.org/officeDocument/2006/relationships" id="257" r:id="Reb80940cdd0046dd"/>
    <p:sldId xmlns:r="http://schemas.openxmlformats.org/officeDocument/2006/relationships" id="258" r:id="R08a16c2554f94691"/>
    <p:sldId xmlns:r="http://schemas.openxmlformats.org/officeDocument/2006/relationships" id="259" r:id="R5de5014affca49f7"/>
    <p:sldId xmlns:r="http://schemas.openxmlformats.org/officeDocument/2006/relationships" id="260" r:id="R07d55d85b8b94cf0"/>
    <p:sldId xmlns:r="http://schemas.openxmlformats.org/officeDocument/2006/relationships" id="261" r:id="Rfca040ab834a4d5a"/>
    <p:sldId xmlns:r="http://schemas.openxmlformats.org/officeDocument/2006/relationships" id="262" r:id="Rfd1fb95e23d34dea"/>
    <p:sldId xmlns:r="http://schemas.openxmlformats.org/officeDocument/2006/relationships" id="263" r:id="R1bec821b10c7409e"/>
    <p:sldId xmlns:r="http://schemas.openxmlformats.org/officeDocument/2006/relationships" id="264" r:id="Rdcfbf7cbf1a3414c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e91be2527847fc" /><Relationship Type="http://schemas.openxmlformats.org/officeDocument/2006/relationships/slideMaster" Target="/ppt/slideMasters/slideMaster1.xml" Id="Ra958bb5a89944fb7" /><Relationship Type="http://schemas.openxmlformats.org/officeDocument/2006/relationships/notesMaster" Target="/ppt/notesMasters/notesMaster1.xml" Id="R3d4bf22d37574caf" /><Relationship Type="http://schemas.openxmlformats.org/officeDocument/2006/relationships/presProps" Target="/ppt/presProps.xml" Id="R5817b39691e349dd" /><Relationship Type="http://schemas.openxmlformats.org/officeDocument/2006/relationships/viewProps" Target="/ppt/viewProps.xml" Id="Rdbf65f2eb43743b4" /><Relationship Type="http://schemas.openxmlformats.org/officeDocument/2006/relationships/tableStyles" Target="/ppt/tableStyles.xml" Id="R148eb0906cb94ad5" /><Relationship Type="http://schemas.openxmlformats.org/officeDocument/2006/relationships/slide" Target="/ppt/slides/slide1.xml" Id="Re49067a6c10b43c0" /><Relationship Type="http://schemas.openxmlformats.org/officeDocument/2006/relationships/slide" Target="/ppt/slides/slide2.xml" Id="Reb80940cdd0046dd" /><Relationship Type="http://schemas.openxmlformats.org/officeDocument/2006/relationships/slide" Target="/ppt/slides/slide3.xml" Id="R08a16c2554f94691" /><Relationship Type="http://schemas.openxmlformats.org/officeDocument/2006/relationships/slide" Target="/ppt/slides/slide4.xml" Id="R5de5014affca49f7" /><Relationship Type="http://schemas.openxmlformats.org/officeDocument/2006/relationships/slide" Target="/ppt/slides/slide5.xml" Id="R07d55d85b8b94cf0" /><Relationship Type="http://schemas.openxmlformats.org/officeDocument/2006/relationships/slide" Target="/ppt/slides/slide6.xml" Id="Rfca040ab834a4d5a" /><Relationship Type="http://schemas.openxmlformats.org/officeDocument/2006/relationships/slide" Target="/ppt/slides/slide7.xml" Id="Rfd1fb95e23d34dea" /><Relationship Type="http://schemas.openxmlformats.org/officeDocument/2006/relationships/slide" Target="/ppt/slides/slide8.xml" Id="R1bec821b10c7409e" /><Relationship Type="http://schemas.openxmlformats.org/officeDocument/2006/relationships/slide" Target="/ppt/slides/slide9.xml" Id="Rdcfbf7cbf1a341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34e99480ca47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6ede2150194193" /><Relationship Type="http://schemas.openxmlformats.org/officeDocument/2006/relationships/notesMaster" Target="/ppt/notesMasters/notesMaster1.xml" Id="Ra18a905e9dbb47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7a7ce5d4ab406a" /><Relationship Type="http://schemas.openxmlformats.org/officeDocument/2006/relationships/notesMaster" Target="/ppt/notesMasters/notesMaster1.xml" Id="R85384f3223964b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2516a89f9345d5" /><Relationship Type="http://schemas.openxmlformats.org/officeDocument/2006/relationships/notesMaster" Target="/ppt/notesMasters/notesMaster1.xml" Id="Ra6ab879f4bdc4b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981f0ef19043e2" /><Relationship Type="http://schemas.openxmlformats.org/officeDocument/2006/relationships/notesMaster" Target="/ppt/notesMasters/notesMaster1.xml" Id="R163311d8783b41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19ccbc6a7244bf" /><Relationship Type="http://schemas.openxmlformats.org/officeDocument/2006/relationships/notesMaster" Target="/ppt/notesMasters/notesMaster1.xml" Id="Rbff701836e1b4b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4f685020ff4986" /><Relationship Type="http://schemas.openxmlformats.org/officeDocument/2006/relationships/notesMaster" Target="/ppt/notesMasters/notesMaster1.xml" Id="Rc0c512b738af4f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8cbc82d548430f" /><Relationship Type="http://schemas.openxmlformats.org/officeDocument/2006/relationships/notesMaster" Target="/ppt/notesMasters/notesMaster1.xml" Id="R235da53eec894f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3f94a6f91d4154" /><Relationship Type="http://schemas.openxmlformats.org/officeDocument/2006/relationships/notesMaster" Target="/ppt/notesMasters/notesMaster1.xml" Id="R8faefb83b6834a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2a39dbf00545b7" /><Relationship Type="http://schemas.openxmlformats.org/officeDocument/2006/relationships/notesMaster" Target="/ppt/notesMasters/notesMaster1.xml" Id="R503d191e4dd34d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income bars illustrate an irregular pattern only; they are not survey or market data. Official hackathon programme asks teams to focus on user value, adoption, and evidence: https://appoftheyear.co.za/live-stream/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Kea is an illustrative demo persona, not an interview participant. Validate this need with users before making research claims.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R150 figure is a script example, not a current app result. Forecasts are estimates and should not be presented as financial advice.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official past winners page includes products such as Easy Equities and StokFella; product-market fit and usefulness matter more than feature count. Source: https://appoftheyear.co.za/past-winners/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10–20 participant, four-week pilot is a proposed validation plan, not a completed study.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86d564061c4d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aedc7964ea4b6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OLoka">
    <p:bg>
      <p:bgPr>
        <a:solidFill xmlns:a="http://schemas.openxmlformats.org/drawingml/2006/main">
          <a:srgbClr val="0C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A43B464-187B-48F3-BD58-B2C5A42E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A6"/>
          </a:solidFill>
          <a:ln xmlns:a="http://schemas.openxmlformats.org/drawingml/2006/main" w="12700">
            <a:solidFill>
              <a:srgbClr val="32D6A6">
                <a:alpha val="0"/>
              </a:srgbClr>
            </a:solidFill>
            <a:prstDash val="solid"/>
          </a:ln>
        </p:spPr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D04BE11-13C9-4298-8F45-CCB7AB9A7BB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aeabd817624b62" /><Relationship Type="http://schemas.openxmlformats.org/officeDocument/2006/relationships/slideLayout" Target="/ppt/slideLayouts/slideLayout1.xml" Id="R8d1f366b0a594861" /><Relationship Type="http://schemas.openxmlformats.org/officeDocument/2006/relationships/slideLayout" Target="/ppt/slideLayouts/slideLayout2.xml" Id="Re1d3c31c03564ad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3E1CF4E-1B12-4CD9-BF80-4E16D9E5C47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1f366b0a594861"/>
    <p:sldLayoutId xmlns:r="http://schemas.openxmlformats.org/officeDocument/2006/relationships" id="2147483650" r:id="Re1d3c31c03564ad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35975c70c24bc5" /><Relationship Type="http://schemas.openxmlformats.org/officeDocument/2006/relationships/notesSlide" Target="/ppt/notesSlides/notesSlide1.xml" Id="R04f17e01621c41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ccd0f32c8146a4" /><Relationship Type="http://schemas.openxmlformats.org/officeDocument/2006/relationships/notesSlide" Target="/ppt/notesSlides/notesSlide2.xml" Id="R6e971ac79b3446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f3cace71ac46a9" /><Relationship Type="http://schemas.openxmlformats.org/officeDocument/2006/relationships/notesSlide" Target="/ppt/notesSlides/notesSlide3.xml" Id="R91007e5df47143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b37f275c1d401d" /><Relationship Type="http://schemas.openxmlformats.org/officeDocument/2006/relationships/notesSlide" Target="/ppt/notesSlides/notesSlide4.xml" Id="Reeee6ce160eb4d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b28df3ef8b48b7" /><Relationship Type="http://schemas.openxmlformats.org/officeDocument/2006/relationships/notesSlide" Target="/ppt/notesSlides/notesSlide5.xml" Id="R7e75ceb0dcb849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02c366410f451a" /><Relationship Type="http://schemas.openxmlformats.org/officeDocument/2006/relationships/notesSlide" Target="/ppt/notesSlides/notesSlide6.xml" Id="R25aa4dd6a27642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186229ee24cfc" /><Relationship Type="http://schemas.openxmlformats.org/officeDocument/2006/relationships/notesSlide" Target="/ppt/notesSlides/notesSlide7.xml" Id="R3606dc8722b34e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19863442c6417f" /><Relationship Type="http://schemas.openxmlformats.org/officeDocument/2006/relationships/notesSlide" Target="/ppt/notesSlides/notesSlide8.xml" Id="Rb934e48b8cc444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dd120a08374a40" /><Relationship Type="http://schemas.openxmlformats.org/officeDocument/2006/relationships/notesSlide" Target="/ppt/notesSlides/notesSlide9.xml" Id="Rc388408b6f5b4a4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A19F50A-3687-4755-BE16-D2BF9D1F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5836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32D6A6"/>
                </a:solidFill>
                <a:latin typeface="Aptos Display"/>
                <a:ea typeface="Aptos Display"/>
                <a:cs typeface="Aptos Display"/>
              </a:rPr>
              <a:t>THAKA  /  FINANCIAL INCLUSION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20FB043-442C-4E1D-A4A0-C5D1B9CB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9966960" cy="1993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Income comes in waves.</a:t>
            </a:r>
            <a:endParaRPr sz="3800"/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Expenses don’t.</a:t>
            </a:r>
            <a:endParaRPr sz="3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5464FD0-121A-4CC6-B80D-A0B94980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886200"/>
            <a:ext cx="78638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8CA399"/>
                </a:solidFill>
                <a:latin typeface="Aptos"/>
                <a:ea typeface="Aptos"/>
                <a:cs typeface="Aptos"/>
              </a:rPr>
              <a:t>Boloka helps gig workers prepare for the week that gets tight.</a:t>
            </a:r>
            <a:endParaRPr sz="21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C88F1F8-C943-4C6E-8696-A377D140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882896"/>
            <a:ext cx="29809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F6C14B"/>
            </a:solidFill>
            <a:prstDash val="solid"/>
            <a:headEnd type="none"/>
            <a:tailEnd type="none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D796DF1-6E1E-4183-8DBD-E040E72C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093208"/>
            <a:ext cx="51206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100">
                <a:solidFill>
                  <a:srgbClr val="F6C14B"/>
                </a:solidFill>
                <a:latin typeface="Aptos Display"/>
                <a:ea typeface="Aptos Display"/>
                <a:cs typeface="Aptos Display"/>
              </a:rPr>
              <a:t>SAVE, BEFORE YOU HAVE TO.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E481011-B522-4333-A390-7E77B965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6236208"/>
            <a:ext cx="6949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8CA399"/>
                </a:solidFill>
                <a:latin typeface="Aptos"/>
                <a:ea typeface="Aptos"/>
                <a:cs typeface="Aptos"/>
              </a:rPr>
              <a:t>A working prototype • Synthetic demo data</a:t>
            </a:r>
            <a:endParaRPr sz="1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9735D71-13CA-4F54-8925-15B432C8AA3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11869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9C1816D-137C-4BCE-A6BC-98E69AB5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9875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30">
                <a:solidFill>
                  <a:srgbClr val="32D6A6"/>
                </a:solidFill>
                <a:latin typeface="Aptos Display"/>
                <a:ea typeface="Aptos Display"/>
                <a:cs typeface="Aptos Display"/>
              </a:rPr>
              <a:t>01 / THE PROBLEM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B0F2340-4F6A-4082-AB31-D8EB480B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96112"/>
            <a:ext cx="107899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Irregular income. Regular bills.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AB86F74-CFCC-44C7-94C8-937058CD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737360"/>
            <a:ext cx="104241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8CA399"/>
                </a:solidFill>
                <a:latin typeface="Aptos"/>
                <a:ea typeface="Aptos"/>
                <a:cs typeface="Aptos"/>
              </a:rPr>
              <a:t>A balance shows today. It does not show whether the next bill will arrive before the next payout.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4B04EFF-0C49-444E-A415-A60C834D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63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A3D35"/>
            </a:solidFill>
            <a:prstDash val="solid"/>
            <a:headEnd type="none"/>
            <a:tailEnd type="none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F0FEBD7-910C-4362-9A1A-90C3DCBA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135374"/>
            <a:ext cx="393192" cy="10309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A6">
              <a:alpha val="88000"/>
            </a:srgbClr>
          </a:solidFill>
          <a:ln xmlns:a="http://schemas.openxmlformats.org/drawingml/2006/main" w="12700">
            <a:solidFill>
              <a:srgbClr val="32D6A6">
                <a:alpha val="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AB6C3B2-5C32-4A5C-B559-ABFF5DE8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4753966"/>
            <a:ext cx="393192" cy="4123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A6">
              <a:alpha val="88000"/>
            </a:srgbClr>
          </a:solidFill>
          <a:ln xmlns:a="http://schemas.openxmlformats.org/drawingml/2006/main" w="12700">
            <a:solidFill>
              <a:srgbClr val="32D6A6">
                <a:alpha val="0"/>
              </a:srgbClr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BC21FA3-772F-40F9-916A-3494056B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3629254"/>
            <a:ext cx="393192" cy="15371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A6">
              <a:alpha val="88000"/>
            </a:srgbClr>
          </a:solidFill>
          <a:ln xmlns:a="http://schemas.openxmlformats.org/drawingml/2006/main" w="12700">
            <a:solidFill>
              <a:srgbClr val="32D6A6">
                <a:alpha val="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E2743E3-FCB0-495B-96C2-99779078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952" y="4828946"/>
            <a:ext cx="393192" cy="3374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A6">
              <a:alpha val="88000"/>
            </a:srgbClr>
          </a:solidFill>
          <a:ln xmlns:a="http://schemas.openxmlformats.org/drawingml/2006/main" w="12700">
            <a:solidFill>
              <a:srgbClr val="32D6A6">
                <a:alpha val="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DEFDB63-9A05-4C80-A37E-336D8EC4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4266590"/>
            <a:ext cx="393192" cy="899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A6">
              <a:alpha val="88000"/>
            </a:srgbClr>
          </a:solidFill>
          <a:ln xmlns:a="http://schemas.openxmlformats.org/drawingml/2006/main" w="12700">
            <a:solidFill>
              <a:srgbClr val="32D6A6">
                <a:alpha val="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6691700-66C8-4A53-A210-6E140572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3854196"/>
            <a:ext cx="393192" cy="1312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A6">
              <a:alpha val="88000"/>
            </a:srgbClr>
          </a:solidFill>
          <a:ln xmlns:a="http://schemas.openxmlformats.org/drawingml/2006/main" w="12700">
            <a:solidFill>
              <a:srgbClr val="32D6A6">
                <a:alpha val="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4D63DA2-4F37-4197-B6BE-91A519A6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4660240"/>
            <a:ext cx="393192" cy="506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A6">
              <a:alpha val="88000"/>
            </a:srgbClr>
          </a:solidFill>
          <a:ln xmlns:a="http://schemas.openxmlformats.org/drawingml/2006/main" w="12700">
            <a:solidFill>
              <a:srgbClr val="32D6A6">
                <a:alpha val="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417B33E-9803-4729-879C-B8C18B1F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3516782"/>
            <a:ext cx="393192" cy="16495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A6">
              <a:alpha val="88000"/>
            </a:srgbClr>
          </a:solidFill>
          <a:ln xmlns:a="http://schemas.openxmlformats.org/drawingml/2006/main" w="12700">
            <a:solidFill>
              <a:srgbClr val="32D6A6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31E7298-DB36-477A-9230-60451212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4604004"/>
            <a:ext cx="393192" cy="562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A6">
              <a:alpha val="88000"/>
            </a:srgbClr>
          </a:solidFill>
          <a:ln xmlns:a="http://schemas.openxmlformats.org/drawingml/2006/main" w="12700">
            <a:solidFill>
              <a:srgbClr val="32D6A6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ED1DBF5-DB21-4AF1-9545-4807F594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6C14B"/>
            </a:solidFill>
            <a:prstDash val="solid"/>
            <a:headEnd type="none"/>
            <a:tailEnd type="none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579AC41-6B95-42A8-9C2B-7637173D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00">
                <a:solidFill>
                  <a:srgbClr val="32D6A6"/>
                </a:solidFill>
                <a:latin typeface="Aptos Display"/>
                <a:ea typeface="Aptos Display"/>
                <a:cs typeface="Aptos Display"/>
              </a:rPr>
              <a:t>PAYOUTS</a:t>
            </a:r>
            <a:endParaRPr sz="10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5BD8052-B1FF-4F7D-B779-580C944A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547872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 spc="40">
                <a:solidFill>
                  <a:srgbClr val="F6C14B"/>
                </a:solidFill>
                <a:latin typeface="Aptos Display"/>
                <a:ea typeface="Aptos Display"/>
                <a:cs typeface="Aptos Display"/>
              </a:rPr>
              <a:t>RECURRING COSTS</a:t>
            </a:r>
            <a:endParaRPr sz="1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95195A9-6FAC-4AFC-BF0A-ABE3CCD7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77840"/>
            <a:ext cx="6583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One strong week can be followed by a quiet one.</a:t>
            </a:r>
            <a:endParaRPr sz="1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1C5E50B-D806-44A5-9F92-606CD2E7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7608"/>
            <a:ext cx="6583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50">
                <a:solidFill>
                  <a:srgbClr val="8CA399"/>
                </a:solidFill>
                <a:latin typeface="Aptos"/>
                <a:ea typeface="Aptos"/>
                <a:cs typeface="Aptos"/>
              </a:rPr>
              <a:t>ILLUSTRATIVE PATTERN — NOT USER RESEARCH</a:t>
            </a:r>
            <a:endParaRPr sz="9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66E7866-7CB7-4E58-A418-8DA17BB7010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6046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8DD2BB8-6BC1-4CFB-8258-C27823A4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9875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30">
                <a:solidFill>
                  <a:srgbClr val="32D6A6"/>
                </a:solidFill>
                <a:latin typeface="Aptos Display"/>
                <a:ea typeface="Aptos Display"/>
                <a:cs typeface="Aptos Display"/>
              </a:rPr>
              <a:t>02 / THE PERSON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C714901-5BB3-4092-9515-6CDE735D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96112"/>
            <a:ext cx="107899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A ledger records the past. Kea needs a heads-up.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9D3B6E1-530E-42AF-8B9B-1DC5CA99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737360"/>
            <a:ext cx="104241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8CA399"/>
                </a:solidFill>
                <a:latin typeface="Aptos"/>
                <a:ea typeface="Aptos"/>
                <a:cs typeface="Aptos"/>
              </a:rPr>
              <a:t>Illustrative demo story — validate with real users before treating it as research.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A51B6C3-14BF-43BC-BEB7-D1C9A640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0"/>
            <a:ext cx="2834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6C14B"/>
                </a:solidFill>
                <a:latin typeface="Aptos Display"/>
                <a:ea typeface="Aptos Display"/>
                <a:cs typeface="Aptos Display"/>
              </a:rPr>
              <a:t>KEA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992576B-D378-4A05-B3F4-A18ABE4D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93008"/>
            <a:ext cx="3383280" cy="1353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900">
                <a:solidFill>
                  <a:srgbClr val="F3F7F4"/>
                </a:solidFill>
                <a:latin typeface="Aptos"/>
                <a:ea typeface="Aptos"/>
                <a:cs typeface="Aptos"/>
              </a:rPr>
              <a:t>Freelance work</a:t>
            </a:r>
            <a:endParaRPr sz="1900"/>
          </a:p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900">
                <a:solidFill>
                  <a:srgbClr val="F3F7F4"/>
                </a:solidFill>
                <a:latin typeface="Aptos"/>
                <a:ea typeface="Aptos"/>
                <a:cs typeface="Aptos"/>
              </a:rPr>
              <a:t>Delivery shifts</a:t>
            </a:r>
            <a:endParaRPr sz="1900"/>
          </a:p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900">
                <a:solidFill>
                  <a:srgbClr val="F3F7F4"/>
                </a:solidFill>
                <a:latin typeface="Aptos"/>
                <a:ea typeface="Aptos"/>
                <a:cs typeface="Aptos"/>
              </a:rPr>
              <a:t>Rent due monthly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299131F-724E-4D3E-9D3E-D238FEF6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2880360"/>
            <a:ext cx="0" cy="2468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A3D35"/>
            </a:solidFill>
            <a:prstDash val="solid"/>
            <a:headEnd type="none"/>
            <a:tailEnd type="none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218FCFB-CC08-4956-BAA8-72F5BBAE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07792"/>
            <a:ext cx="594360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“Will the money last</a:t>
            </a:r>
            <a:endParaRPr sz="2600"/>
          </a:p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until rent is paid?”</a:t>
            </a:r>
            <a:endParaRPr sz="2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508CC9C-75AE-4F3B-A8E5-868B760B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4709160"/>
            <a:ext cx="5486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rPr>
              <a:t>The decision comes before the shortfall.</a:t>
            </a:r>
            <a:endParaRPr sz="17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4128AE1-574A-4BCB-899A-9D330CA7618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9626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AFD6DC3-E032-4C31-BDD4-A10BC0FB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9875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30">
                <a:solidFill>
                  <a:srgbClr val="32D6A6"/>
                </a:solidFill>
                <a:latin typeface="Aptos Display"/>
                <a:ea typeface="Aptos Display"/>
                <a:cs typeface="Aptos Display"/>
              </a:rPr>
              <a:t>03 / THE PRODUCT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9DEB9B-B540-42D6-8C61-8BFC2BC9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96112"/>
            <a:ext cx="107899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Turn a record into one useful next step.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81629A8-2378-4640-B151-3AF9A34C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737360"/>
            <a:ext cx="104241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8CA399"/>
                </a:solidFill>
                <a:latin typeface="Aptos"/>
                <a:ea typeface="Aptos"/>
                <a:cs typeface="Aptos"/>
              </a:rPr>
              <a:t>Boloka works with the information a user chooses to enter. No bank password or account connection.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A11857A-3984-4CD0-BB32-88717CB3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1488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rPr>
              <a:t>1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AAD1712-9228-4524-8F86-58459016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4720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00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LOG</a:t>
            </a:r>
            <a:endParaRPr sz="13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17F204F-4D4C-4619-8FF5-D4E53C31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7640"/>
            <a:ext cx="28346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8CA399"/>
                </a:solidFill>
                <a:latin typeface="Aptos"/>
                <a:ea typeface="Aptos"/>
                <a:cs typeface="Aptos"/>
              </a:rPr>
              <a:t>Payouts and bills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8CA399"/>
                </a:solidFill>
                <a:latin typeface="Aptos"/>
                <a:ea typeface="Aptos"/>
                <a:cs typeface="Aptos"/>
              </a:rPr>
              <a:t>in rand and cents</a:t>
            </a:r>
            <a:endParaRPr sz="17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1489635-72A0-4B2D-B4CE-D15ED625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054096"/>
            <a:ext cx="2240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A3D35"/>
            </a:solidFill>
            <a:prstDash val="solid"/>
            <a:headEnd type="none"/>
            <a:tailEnd type="none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56B0E0C-A625-4275-AC6D-101837E3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61488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rPr>
              <a:t>2</a:t>
            </a:r>
            <a:endParaRPr sz="30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6DAE18B-51EE-4C8B-8FF2-7982FA72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74720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00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LOOK AHEAD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0B28398-8FB4-44AE-AF34-E870A465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77640"/>
            <a:ext cx="28346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8CA399"/>
                </a:solidFill>
                <a:latin typeface="Aptos"/>
                <a:ea typeface="Aptos"/>
                <a:cs typeface="Aptos"/>
              </a:rPr>
              <a:t>A 30-day cash-flow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8CA399"/>
                </a:solidFill>
                <a:latin typeface="Aptos"/>
                <a:ea typeface="Aptos"/>
                <a:cs typeface="Aptos"/>
              </a:rPr>
              <a:t>estimate and confidence</a:t>
            </a:r>
            <a:endParaRPr sz="17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7BA8BBA-F32A-4732-A002-40C69DD6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054096"/>
            <a:ext cx="2240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A3D35"/>
            </a:solidFill>
            <a:prstDash val="solid"/>
            <a:headEnd type="none"/>
            <a:tailEnd type="none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0ED6D12-FBBC-4C8A-A8DB-68C5DA4F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61488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6C14B"/>
                </a:solidFill>
                <a:latin typeface="Aptos Display"/>
                <a:ea typeface="Aptos Display"/>
                <a:cs typeface="Aptos Display"/>
              </a:rPr>
              <a:t>3</a:t>
            </a:r>
            <a:endParaRPr sz="3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AA9F8E-9E5B-4D0F-97BA-FEC760AE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74720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00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ACT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8AE68A4-A73C-4E68-A737-CB257405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77640"/>
            <a:ext cx="28346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8CA399"/>
                </a:solidFill>
                <a:latin typeface="Aptos"/>
                <a:ea typeface="Aptos"/>
                <a:cs typeface="Aptos"/>
              </a:rPr>
              <a:t>A conditional estimate and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8CA399"/>
                </a:solidFill>
                <a:latin typeface="Aptos"/>
                <a:ea typeface="Aptos"/>
                <a:cs typeface="Aptos"/>
              </a:rPr>
              <a:t>weekly set-aside idea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35AAC4F-8DFF-4FD8-95CA-801E9F80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32120"/>
            <a:ext cx="95097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A recommendation is only useful if the person can see why it was made.</a:t>
            </a:r>
            <a:endParaRPr sz="17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393D09B-A735-4D48-AE5D-6D95AB33736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53857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8B91569-1081-4835-8B0A-A20C8C4A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9875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30">
                <a:solidFill>
                  <a:srgbClr val="32D6A6"/>
                </a:solidFill>
                <a:latin typeface="Aptos Display"/>
                <a:ea typeface="Aptos Display"/>
                <a:cs typeface="Aptos Display"/>
              </a:rPr>
              <a:t>04 / THE DIFFERENTIATOR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CC6B7F8-CFB0-474B-A5FD-699D56CC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96112"/>
            <a:ext cx="107899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The “why” travels with the number.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44190D4-A523-4C5F-8157-57DE6C5F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737360"/>
            <a:ext cx="104241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8CA399"/>
                </a:solidFill>
                <a:latin typeface="Aptos"/>
                <a:ea typeface="Aptos"/>
                <a:cs typeface="Aptos"/>
              </a:rPr>
              <a:t>A forecast should make uncertainty visible, especially when the user has little history.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611280B-A533-46BD-8101-009B4C4E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43200"/>
            <a:ext cx="38404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 b="1">
                <a:solidFill>
                  <a:srgbClr val="F6C14B"/>
                </a:solidFill>
                <a:latin typeface="Aptos Display"/>
                <a:ea typeface="Aptos Display"/>
                <a:cs typeface="Aptos Display"/>
              </a:rPr>
              <a:t>R 150</a:t>
            </a:r>
            <a:endParaRPr sz="4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F09FDD3-9C87-4C74-808C-8A05A08B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30752"/>
            <a:ext cx="43891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Illustrative weekly buffer</a:t>
            </a:r>
            <a:endParaRPr sz="17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9420A6-F951-425C-8651-62C3026C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788920"/>
            <a:ext cx="56692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rgbClr val="F3F7F4"/>
                </a:solidFill>
                <a:latin typeface="Aptos"/>
                <a:ea typeface="Aptos"/>
                <a:cs typeface="Aptos"/>
              </a:rPr>
              <a:t>Based on entries you choose to add, Boloka can show a planning gap. It does not predict a shortfall date.</a:t>
            </a:r>
            <a:endParaRPr sz="2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32C9628-E6B4-4281-B15B-592F1AA0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617720"/>
            <a:ext cx="480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A3D35"/>
            </a:solidFill>
            <a:prstDash val="solid"/>
            <a:headEnd type="none"/>
            <a:tailEnd type="none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28F93D8-6B66-4F5B-A5EA-951E54C5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937760"/>
            <a:ext cx="3108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80">
                <a:solidFill>
                  <a:srgbClr val="32D6A6"/>
                </a:solidFill>
                <a:latin typeface="Aptos Display"/>
                <a:ea typeface="Aptos Display"/>
                <a:cs typeface="Aptos Display"/>
              </a:rPr>
              <a:t>CONFIDENCE: LABELLED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5EA6487-A436-471C-B14A-1E1372F4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87568"/>
            <a:ext cx="987552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8CA399"/>
                </a:solidFill>
                <a:latin typeface="Aptos"/>
                <a:ea typeface="Aptos"/>
                <a:cs typeface="Aptos"/>
              </a:rPr>
              <a:t>This is an example message, not a live prediction or personal financial advice.</a:t>
            </a:r>
            <a:endParaRPr sz="12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022E9F9-F8FD-40A7-B11F-5BEA5C7E65F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86686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8807B7C-8589-4030-BA3D-F596299F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9875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30">
                <a:solidFill>
                  <a:srgbClr val="32D6A6"/>
                </a:solidFill>
                <a:latin typeface="Aptos Display"/>
                <a:ea typeface="Aptos Display"/>
                <a:cs typeface="Aptos Display"/>
              </a:rPr>
              <a:t>05 / DESIGNED FOR TRUST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C3A594E-82F3-438E-ADAF-D82F1D9B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96112"/>
            <a:ext cx="107899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Useful only if people can trust the inputs and limits.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307EA32-B28E-4628-B7DD-8C5A9735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267712"/>
            <a:ext cx="251460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rPr>
              <a:t>Data minimisation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19BAF39-4E1D-4E00-9E5D-E02B006F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267712"/>
            <a:ext cx="7589520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F3F7F4"/>
                </a:solidFill>
                <a:latin typeface="Aptos"/>
                <a:ea typeface="Aptos"/>
                <a:cs typeface="Aptos"/>
              </a:rPr>
              <a:t>No bank login or account aggregation in the prototype.</a:t>
            </a:r>
            <a:endParaRPr sz="17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BEC9B5F-4D0A-4D69-B1D0-55E08DEE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834640"/>
            <a:ext cx="100766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2A3D35"/>
            </a:solidFill>
            <a:prstDash val="solid"/>
            <a:headEnd type="none"/>
            <a:tailEnd type="none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16EA37E-890C-41CA-942C-8C5A67B4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072384"/>
            <a:ext cx="251460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rPr>
              <a:t>Clear ownership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D5A9AF3-DB33-4C96-B357-A5397CF5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072384"/>
            <a:ext cx="7589520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F3F7F4"/>
                </a:solidFill>
                <a:latin typeface="Aptos"/>
                <a:ea typeface="Aptos"/>
                <a:cs typeface="Aptos"/>
              </a:rPr>
              <a:t>Authenticated users can access their own transaction rows.</a:t>
            </a:r>
            <a:endParaRPr sz="17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9C3163A-64FF-4D97-9105-3B184CEF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639312"/>
            <a:ext cx="100766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2A3D35"/>
            </a:solidFill>
            <a:prstDash val="solid"/>
            <a:headEnd type="none"/>
            <a:tailEnd type="none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C5C9CFD-232A-4C56-BDCB-F4CCA31F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877056"/>
            <a:ext cx="251460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6C14B"/>
                </a:solidFill>
                <a:latin typeface="Aptos Display"/>
                <a:ea typeface="Aptos Display"/>
                <a:cs typeface="Aptos Display"/>
              </a:rPr>
              <a:t>Honest uncertainty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3206618-2464-4A4B-803B-9AFADFEE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77056"/>
            <a:ext cx="7589520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F3F7F4"/>
                </a:solidFill>
                <a:latin typeface="Aptos"/>
                <a:ea typeface="Aptos"/>
                <a:cs typeface="Aptos"/>
              </a:rPr>
              <a:t>Sparse history is labelled insufficient; Boloka does not predict a shortfall date.</a:t>
            </a:r>
            <a:endParaRPr sz="17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7B91410-D5BB-4421-8A63-BE7E107C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43984"/>
            <a:ext cx="100766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2A3D35"/>
            </a:solidFill>
            <a:prstDash val="solid"/>
            <a:headEnd type="none"/>
            <a:tailEnd type="none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7034680-8190-4E96-9CB7-6782FABC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681728"/>
            <a:ext cx="251460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rPr>
              <a:t>Explainable action</a:t>
            </a:r>
            <a:endParaRPr sz="15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4BA7044-199E-49D8-B050-A8C97CC2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681728"/>
            <a:ext cx="7589520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F3F7F4"/>
                </a:solidFill>
                <a:latin typeface="Aptos"/>
                <a:ea typeface="Aptos"/>
                <a:cs typeface="Aptos"/>
              </a:rPr>
              <a:t>The set-aside suggestion includes a plain-language reason.</a:t>
            </a:r>
            <a:endParaRPr sz="17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8F4E884-40A8-4703-8271-94881464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870448"/>
            <a:ext cx="10241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8CA399"/>
                </a:solidFill>
                <a:latin typeface="Aptos"/>
                <a:ea typeface="Aptos"/>
                <a:cs typeface="Aptos"/>
              </a:rPr>
              <a:t>Security rules and forecast calibration still need review before real-money decisions.</a:t>
            </a:r>
            <a:endParaRPr sz="12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79DC0DB-CEBD-49C1-9462-42D98BC6260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7416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mplate-accent-bar">
            <a:extLst xmlns:a="http://schemas.openxmlformats.org/drawingml/2006/main">
              <a:ext uri="{FF2B5EF4-FFF2-40B4-BE49-F238E27FC236}">
                <a16:creationId xmlns:a16="http://schemas.microsoft.com/office/drawing/2014/main" id="{7489228B-A759-42C0-9A95-8B094968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rchitecture-kicker">
            <a:extLst xmlns:a="http://schemas.openxmlformats.org/drawingml/2006/main">
              <a:ext uri="{FF2B5EF4-FFF2-40B4-BE49-F238E27FC236}">
                <a16:creationId xmlns:a16="http://schemas.microsoft.com/office/drawing/2014/main" id="{A0654E9A-FCBB-4EF1-AD11-86FF6D15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762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rPr>
              <a:t>06 / ARCHITECTURE &amp; JUDGE ACCESS</a:t>
            </a:r>
          </a:p>
        </p:txBody>
      </p:sp>
      <p:sp>
        <p:nvSpPr>
          <p:cNvPr id="3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124E3187-6DA7-47E9-84BE-6110B825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8953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30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defRPr sz="30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defRPr sz="30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defRPr sz="30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defRPr sz="30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defRPr sz="30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defRPr sz="30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defRPr sz="30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defRPr sz="30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defRPr sz="30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The judge flow</a:t>
            </a:r>
          </a:p>
        </p:txBody>
      </p:sp>
      <p:sp>
        <p:nvSpPr>
          <p:cNvPr id="4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4594CC66-2579-4B81-ACB4-D20023E6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619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1500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8CA399"/>
                </a:solidFill>
                <a:latin typeface="Aptos"/>
                <a:ea typeface="Aptos"/>
                <a:cs typeface="Aptos"/>
              </a:rPr>
              <a:t>Boloka keeps sign-in, planning logic and personal records in separate services.</a:t>
            </a:r>
          </a:p>
        </p:txBody>
      </p:sp>
      <p:sp>
        <p:nvSpPr>
          <p:cNvPr id="5" name="architecture-stage-1-label">
            <a:extLst xmlns:a="http://schemas.openxmlformats.org/drawingml/2006/main">
              <a:ext uri="{FF2B5EF4-FFF2-40B4-BE49-F238E27FC236}">
                <a16:creationId xmlns:a16="http://schemas.microsoft.com/office/drawing/2014/main" id="{F922AF77-629B-4F06-9573-43E92EC7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rPr>
              <a:t>FRONTEND</a:t>
            </a:r>
          </a:p>
        </p:txBody>
      </p:sp>
      <p:sp>
        <p:nvSpPr>
          <p:cNvPr id="6" name="architecture-stage-1-body">
            <a:extLst xmlns:a="http://schemas.openxmlformats.org/drawingml/2006/main">
              <a:ext uri="{FF2B5EF4-FFF2-40B4-BE49-F238E27FC236}">
                <a16:creationId xmlns:a16="http://schemas.microsoft.com/office/drawing/2014/main" id="{75FF0433-B6AF-4E08-B046-2AF70098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Vercel</a:t>
            </a:r>
          </a:p>
          <a:p xmlns:a="http://schemas.openxmlformats.org/drawingml/2006/main">
            <a: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boloka.vercel.app</a:t>
            </a:r>
          </a:p>
        </p:txBody>
      </p:sp>
      <p:sp>
        <p:nvSpPr>
          <p:cNvPr id="7" name="architecture-connector-1">
            <a:extLst xmlns:a="http://schemas.openxmlformats.org/drawingml/2006/main">
              <a:ext uri="{FF2B5EF4-FFF2-40B4-BE49-F238E27FC236}">
                <a16:creationId xmlns:a16="http://schemas.microsoft.com/office/drawing/2014/main" id="{A8AAC1EB-425E-4957-B49B-81A154B7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63D"/>
          </a:solidFill>
          <a:ln xmlns:a="http://schemas.openxmlformats.org/drawingml/2006/main" w="0">
            <a:solidFill>
              <a:srgbClr val="33463D"/>
            </a:solidFill>
            <a:prstDash val="solid"/>
          </a:ln>
        </p:spPr>
      </p:sp>
      <p:sp>
        <p:nvSpPr>
          <p:cNvPr id="8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77C8F698-568F-47C9-9141-3D83C27E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38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9" name="architecture-stage-2-label">
            <a:extLst xmlns:a="http://schemas.openxmlformats.org/drawingml/2006/main">
              <a:ext uri="{FF2B5EF4-FFF2-40B4-BE49-F238E27FC236}">
                <a16:creationId xmlns:a16="http://schemas.microsoft.com/office/drawing/2014/main" id="{ADA67C6C-ACD7-4381-9CBF-382BD0B4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05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rPr>
              <a:t>SIGN-IN</a:t>
            </a:r>
          </a:p>
        </p:txBody>
      </p:sp>
      <p:sp>
        <p:nvSpPr>
          <p:cNvPr id="10" name="architecture-stage-2-body">
            <a:extLst xmlns:a="http://schemas.openxmlformats.org/drawingml/2006/main">
              <a:ext uri="{FF2B5EF4-FFF2-40B4-BE49-F238E27FC236}">
                <a16:creationId xmlns:a16="http://schemas.microsoft.com/office/drawing/2014/main" id="{8F6DE23B-3EAA-4534-BC78-68E5F010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05150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Supabase Auth</a:t>
            </a:r>
          </a:p>
          <a:p xmlns:a="http://schemas.openxmlformats.org/drawingml/2006/main">
            <a: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Email and password</a:t>
            </a:r>
          </a:p>
        </p:txBody>
      </p:sp>
      <p:sp>
        <p:nvSpPr>
          <p:cNvPr id="11" name="architecture-connector-2">
            <a:extLst xmlns:a="http://schemas.openxmlformats.org/drawingml/2006/main">
              <a:ext uri="{FF2B5EF4-FFF2-40B4-BE49-F238E27FC236}">
                <a16:creationId xmlns:a16="http://schemas.microsoft.com/office/drawing/2014/main" id="{800EFC5F-FBC0-4FA1-A784-938255A2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003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63D"/>
          </a:solidFill>
          <a:ln xmlns:a="http://schemas.openxmlformats.org/drawingml/2006/main" w="0">
            <a:solidFill>
              <a:srgbClr val="33463D"/>
            </a:solidFill>
            <a:prstDash val="solid"/>
          </a:ln>
        </p:spPr>
      </p:sp>
      <p:sp>
        <p:nvSpPr>
          <p:cNvPr id="12" name="architecture-arrow-2">
            <a:extLst xmlns:a="http://schemas.openxmlformats.org/drawingml/2006/main">
              <a:ext uri="{FF2B5EF4-FFF2-40B4-BE49-F238E27FC236}">
                <a16:creationId xmlns:a16="http://schemas.microsoft.com/office/drawing/2014/main" id="{FA21655A-CB21-4BB1-BDA8-4B3C0058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38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3" name="architecture-stage-3-label">
            <a:extLst xmlns:a="http://schemas.openxmlformats.org/drawingml/2006/main">
              <a:ext uri="{FF2B5EF4-FFF2-40B4-BE49-F238E27FC236}">
                <a16:creationId xmlns:a16="http://schemas.microsoft.com/office/drawing/2014/main" id="{979E6F30-D282-4A11-B11F-910947C3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05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1125" b="1">
                <a:solidFill>
                  <a:srgbClr val="F6C14B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defRPr sz="1125" b="1">
                <a:solidFill>
                  <a:srgbClr val="F6C14B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defRPr sz="1125" b="1">
                <a:solidFill>
                  <a:srgbClr val="F6C14B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defRPr sz="1125" b="1">
                <a:solidFill>
                  <a:srgbClr val="F6C14B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defRPr sz="1125" b="1">
                <a:solidFill>
                  <a:srgbClr val="F6C14B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defRPr sz="1125" b="1">
                <a:solidFill>
                  <a:srgbClr val="F6C14B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defRPr sz="1125" b="1">
                <a:solidFill>
                  <a:srgbClr val="F6C14B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defRPr sz="1125" b="1">
                <a:solidFill>
                  <a:srgbClr val="F6C14B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defRPr sz="1125" b="1">
                <a:solidFill>
                  <a:srgbClr val="F6C14B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defRPr sz="1125" b="1">
                <a:solidFill>
                  <a:srgbClr val="F6C14B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6C14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6C14B"/>
                </a:solidFill>
                <a:latin typeface="Aptos Display"/>
                <a:ea typeface="Aptos Display"/>
                <a:cs typeface="Aptos Display"/>
              </a:rPr>
              <a:t>API</a:t>
            </a:r>
          </a:p>
        </p:txBody>
      </p:sp>
      <p:sp>
        <p:nvSpPr>
          <p:cNvPr id="14" name="architecture-stage-3-body">
            <a:extLst xmlns:a="http://schemas.openxmlformats.org/drawingml/2006/main">
              <a:ext uri="{FF2B5EF4-FFF2-40B4-BE49-F238E27FC236}">
                <a16:creationId xmlns:a16="http://schemas.microsoft.com/office/drawing/2014/main" id="{C79C9DBB-2361-4B8C-92E4-4E5CFD5B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05150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FastAPI / Render</a:t>
            </a:r>
          </a:p>
          <a:p xmlns:a="http://schemas.openxmlformats.org/drawingml/2006/main">
            <a: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Verifies the user JWT</a:t>
            </a:r>
          </a:p>
        </p:txBody>
      </p:sp>
      <p:sp>
        <p:nvSpPr>
          <p:cNvPr id="15" name="architecture-connector-3">
            <a:extLst xmlns:a="http://schemas.openxmlformats.org/drawingml/2006/main">
              <a:ext uri="{FF2B5EF4-FFF2-40B4-BE49-F238E27FC236}">
                <a16:creationId xmlns:a16="http://schemas.microsoft.com/office/drawing/2014/main" id="{61FA1533-E7CC-40FA-8F0C-2C70AFB8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003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63D"/>
          </a:solidFill>
          <a:ln xmlns:a="http://schemas.openxmlformats.org/drawingml/2006/main" w="0">
            <a:solidFill>
              <a:srgbClr val="33463D"/>
            </a:solidFill>
            <a:prstDash val="solid"/>
          </a:ln>
        </p:spPr>
      </p:sp>
      <p:sp>
        <p:nvSpPr>
          <p:cNvPr id="16" name="architecture-arrow-3">
            <a:extLst xmlns:a="http://schemas.openxmlformats.org/drawingml/2006/main">
              <a:ext uri="{FF2B5EF4-FFF2-40B4-BE49-F238E27FC236}">
                <a16:creationId xmlns:a16="http://schemas.microsoft.com/office/drawing/2014/main" id="{E1EAE7E9-0D9B-4211-81C9-04847F7C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38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7" name="architecture-stage-4-label">
            <a:extLst xmlns:a="http://schemas.openxmlformats.org/drawingml/2006/main">
              <a:ext uri="{FF2B5EF4-FFF2-40B4-BE49-F238E27FC236}">
                <a16:creationId xmlns:a16="http://schemas.microsoft.com/office/drawing/2014/main" id="{4B2B0F41-5414-4286-BA91-12C1CB5A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05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rPr>
              <a:t>RECORDS</a:t>
            </a:r>
          </a:p>
        </p:txBody>
      </p:sp>
      <p:sp>
        <p:nvSpPr>
          <p:cNvPr id="18" name="architecture-stage-4-body">
            <a:extLst xmlns:a="http://schemas.openxmlformats.org/drawingml/2006/main">
              <a:ext uri="{FF2B5EF4-FFF2-40B4-BE49-F238E27FC236}">
                <a16:creationId xmlns:a16="http://schemas.microsoft.com/office/drawing/2014/main" id="{D80E1EEB-01DB-4EFE-93A2-16D2326B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Supabase Postgres</a:t>
            </a:r>
          </a:p>
          <a:p xmlns:a="http://schemas.openxmlformats.org/drawingml/2006/main">
            <a:pPr algn="l">
              <a:def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Row-level security by user</a:t>
            </a:r>
          </a:p>
        </p:txBody>
      </p:sp>
      <p:sp>
        <p:nvSpPr>
          <p:cNvPr id="19" name="judge-access-divider">
            <a:extLst xmlns:a="http://schemas.openxmlformats.org/drawingml/2006/main">
              <a:ext uri="{FF2B5EF4-FFF2-40B4-BE49-F238E27FC236}">
                <a16:creationId xmlns:a16="http://schemas.microsoft.com/office/drawing/2014/main" id="{8BF47746-F0A2-4A01-8851-CF4CC717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63D"/>
          </a:solidFill>
          <a:ln xmlns:a="http://schemas.openxmlformats.org/drawingml/2006/main" w="0">
            <a:solidFill>
              <a:srgbClr val="33463D"/>
            </a:solidFill>
            <a:prstDash val="solid"/>
          </a:ln>
        </p:spPr>
      </p:sp>
      <p:sp>
        <p:nvSpPr>
          <p:cNvPr id="20" name="judge-access-label">
            <a:extLst xmlns:a="http://schemas.openxmlformats.org/drawingml/2006/main">
              <a:ext uri="{FF2B5EF4-FFF2-40B4-BE49-F238E27FC236}">
                <a16:creationId xmlns:a16="http://schemas.microsoft.com/office/drawing/2014/main" id="{E96A1945-F77C-417C-B472-CB538C62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rPr>
              <a:t>JUDGE ACCESS</a:t>
            </a:r>
          </a:p>
        </p:txBody>
      </p:sp>
      <p:sp>
        <p:nvSpPr>
          <p:cNvPr id="21" name="judge-access-copy">
            <a:extLst xmlns:a="http://schemas.openxmlformats.org/drawingml/2006/main">
              <a:ext uri="{FF2B5EF4-FFF2-40B4-BE49-F238E27FC236}">
                <a16:creationId xmlns:a16="http://schemas.microsoft.com/office/drawing/2014/main" id="{FCF0245C-A842-4680-8A15-47D22C7A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1650" b="0">
                <a:solidFill>
                  <a:srgbClr val="F3F7F4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0">
                <a:solidFill>
                  <a:srgbClr val="F3F7F4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0">
                <a:solidFill>
                  <a:srgbClr val="F3F7F4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0">
                <a:solidFill>
                  <a:srgbClr val="F3F7F4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0">
                <a:solidFill>
                  <a:srgbClr val="F3F7F4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0">
                <a:solidFill>
                  <a:srgbClr val="F3F7F4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0">
                <a:solidFill>
                  <a:srgbClr val="F3F7F4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0">
                <a:solidFill>
                  <a:srgbClr val="F3F7F4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0">
                <a:solidFill>
                  <a:srgbClr val="F3F7F4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0">
                <a:solidFill>
                  <a:srgbClr val="F3F7F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3F7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3F7F4"/>
                </a:solidFill>
                <a:latin typeface="Aptos"/>
                <a:ea typeface="Aptos"/>
                <a:cs typeface="Aptos"/>
              </a:rPr>
              <a:t>Use the team’s seeded demo account, shared through Sonke’s private field.</a:t>
            </a:r>
          </a:p>
          <a:p xmlns:a="http://schemas.openxmlformats.org/drawingml/2006/main">
            <a:pPr algn="l">
              <a:defRPr sz="1650" b="0">
                <a:solidFill>
                  <a:srgbClr val="F3F7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3F7F4"/>
                </a:solidFill>
                <a:latin typeface="Aptos"/>
                <a:ea typeface="Aptos"/>
                <a:cs typeface="Aptos"/>
              </a:rPr>
              <a:t>Confirm live sign-in and seeded records before the judging session.</a:t>
            </a:r>
          </a:p>
        </p:txBody>
      </p:sp>
      <p:sp>
        <p:nvSpPr>
          <p:cNvPr id="22" name="judge-access-disclosure">
            <a:extLst xmlns:a="http://schemas.openxmlformats.org/drawingml/2006/main">
              <a:ext uri="{FF2B5EF4-FFF2-40B4-BE49-F238E27FC236}">
                <a16:creationId xmlns:a16="http://schemas.microsoft.com/office/drawing/2014/main" id="{BA995F99-6289-4435-BFF1-6BD36ABE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1125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CA399"/>
                </a:solidFill>
                <a:latin typeface="Aptos"/>
                <a:ea typeface="Aptos"/>
                <a:cs typeface="Aptos"/>
              </a:rPr>
              <a:t>Never place demo credentials in this deck or a public repository.</a:t>
            </a:r>
          </a:p>
        </p:txBody>
      </p:sp>
      <p:sp>
        <p:nvSpPr>
          <p:cNvPr id="23" name="architecture-slide-number">
            <a:extLst xmlns:a="http://schemas.openxmlformats.org/drawingml/2006/main">
              <a:ext uri="{FF2B5EF4-FFF2-40B4-BE49-F238E27FC236}">
                <a16:creationId xmlns:a16="http://schemas.microsoft.com/office/drawing/2014/main" id="{70B91D2B-18F1-4BF8-8012-33BCF95C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77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>
            <a:defPPr algn="l">
              <a:defRPr sz="900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8CA3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CA399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049726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6878712-9A9C-4C3B-9EA1-9D755AB8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9875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30">
                <a:solidFill>
                  <a:srgbClr val="32D6A6"/>
                </a:solidFill>
                <a:latin typeface="Aptos Display"/>
                <a:ea typeface="Aptos Display"/>
                <a:cs typeface="Aptos Display"/>
              </a:rPr>
              <a:t>07 / PATH TO ADOPTION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1B12F3D-567B-4C70-AAD1-BBA18722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96112"/>
            <a:ext cx="107899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Start with a habit. Earn the right to scale.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68DF88C-A3B8-435A-8754-682ECD94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737360"/>
            <a:ext cx="104241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8CA399"/>
                </a:solidFill>
                <a:latin typeface="Aptos"/>
                <a:ea typeface="Aptos"/>
                <a:cs typeface="Aptos"/>
              </a:rPr>
              <a:t>Avoid adding features until the weekly cash-flow action helps people return and act.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1A72E0A-3A29-4BE5-9471-F4225427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971800"/>
            <a:ext cx="9738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A3D35"/>
            </a:solidFill>
            <a:prstDash val="solid"/>
            <a:headEnd type="none"/>
            <a:tailEnd type="none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F8BCE60-BD3B-4D83-B797-86028A51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81635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512"/>
          </a:solidFill>
          <a:ln xmlns:a="http://schemas.openxmlformats.org/drawingml/2006/main" w="12700">
            <a:solidFill>
              <a:srgbClr val="32D6A6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152790-755A-46B7-B086-BA85B44B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29000"/>
            <a:ext cx="2377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00">
                <a:solidFill>
                  <a:srgbClr val="8CA399"/>
                </a:solidFill>
                <a:latin typeface="Aptos Display"/>
                <a:ea typeface="Aptos Display"/>
                <a:cs typeface="Aptos Display"/>
              </a:rPr>
              <a:t>NOW</a:t>
            </a:r>
            <a:endParaRPr sz="1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3B4DAAC-F69B-4EBD-833C-877EA496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85616"/>
            <a:ext cx="2743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Prototype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3987C6C-86B2-4A89-8D54-CD4CB0A4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7408"/>
            <a:ext cx="2834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8CA399"/>
                </a:solidFill>
                <a:latin typeface="Aptos"/>
                <a:ea typeface="Aptos"/>
                <a:cs typeface="Aptos"/>
              </a:rPr>
              <a:t>Synthetic demo</a:t>
            </a:r>
            <a:endParaRPr sz="1500"/>
          </a:p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8CA399"/>
                </a:solidFill>
                <a:latin typeface="Aptos"/>
                <a:ea typeface="Aptos"/>
                <a:cs typeface="Aptos"/>
              </a:rPr>
              <a:t>Core forecast flow</a:t>
            </a:r>
            <a:endParaRPr sz="15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BE3D7C6-FD54-4F9A-8272-F6C57C8F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81635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512"/>
          </a:solidFill>
          <a:ln xmlns:a="http://schemas.openxmlformats.org/drawingml/2006/main" w="12700">
            <a:solidFill>
              <a:srgbClr val="F6C14B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154B31F-73FD-4810-BFD6-5968BE58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429000"/>
            <a:ext cx="2377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00">
                <a:solidFill>
                  <a:srgbClr val="8CA399"/>
                </a:solidFill>
                <a:latin typeface="Aptos Display"/>
                <a:ea typeface="Aptos Display"/>
                <a:cs typeface="Aptos Display"/>
              </a:rPr>
              <a:t>NEXT</a:t>
            </a:r>
            <a:endParaRPr sz="1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50DE0D1-B63E-4FB5-8B1B-621B86E3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785616"/>
            <a:ext cx="2743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Small pilot</a:t>
            </a:r>
            <a:endParaRPr sz="2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EFB1A5B-ABF4-4235-A9B5-2550EB3C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407408"/>
            <a:ext cx="2834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8CA399"/>
                </a:solidFill>
                <a:latin typeface="Aptos"/>
                <a:ea typeface="Aptos"/>
                <a:cs typeface="Aptos"/>
              </a:rPr>
              <a:t>10–20 consenting users</a:t>
            </a:r>
            <a:endParaRPr sz="1500"/>
          </a:p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8CA399"/>
                </a:solidFill>
                <a:latin typeface="Aptos"/>
                <a:ea typeface="Aptos"/>
                <a:cs typeface="Aptos"/>
              </a:rPr>
              <a:t>4 weeks, one partner</a:t>
            </a:r>
            <a:endParaRPr sz="15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001F04B-7EC0-48D5-92FB-8567E054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81635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512"/>
          </a:solidFill>
          <a:ln xmlns:a="http://schemas.openxmlformats.org/drawingml/2006/main" w="12700">
            <a:solidFill>
              <a:srgbClr val="32D6A6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8B916D4-3BE1-4E97-ACA7-D97BC0BF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429000"/>
            <a:ext cx="2377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00">
                <a:solidFill>
                  <a:srgbClr val="8CA399"/>
                </a:solidFill>
                <a:latin typeface="Aptos Display"/>
                <a:ea typeface="Aptos Display"/>
                <a:cs typeface="Aptos Display"/>
              </a:rPr>
              <a:t>IF IT WORKS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B951402-1F7B-4F54-96C9-58695DA0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785616"/>
            <a:ext cx="2743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Partnerships</a:t>
            </a:r>
            <a:endParaRPr sz="20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DCBE953-6A86-459F-9542-B51A4CD8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407408"/>
            <a:ext cx="2834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8CA399"/>
                </a:solidFill>
                <a:latin typeface="Aptos"/>
                <a:ea typeface="Aptos"/>
                <a:cs typeface="Aptos"/>
              </a:rPr>
              <a:t>Worker groups</a:t>
            </a:r>
            <a:endParaRPr sz="1500"/>
          </a:p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8CA399"/>
                </a:solidFill>
                <a:latin typeface="Aptos"/>
                <a:ea typeface="Aptos"/>
                <a:cs typeface="Aptos"/>
              </a:rPr>
              <a:t>Platforms or educators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78467C2-D6FF-499F-A4C6-21924922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669280"/>
            <a:ext cx="10241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3F7F4"/>
                </a:solidFill>
                <a:latin typeface="Aptos"/>
                <a:ea typeface="Aptos"/>
                <a:cs typeface="Aptos"/>
              </a:rPr>
              <a:t>Business model hypothesis: free individual planning; later, opt-in partner support. No personal data sales.</a:t>
            </a:r>
            <a:endParaRPr sz="13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D8576D8-B20D-4DA5-BAC7-CC0B75519DF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4601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248621A-7503-4A6F-8FB0-D55B6E41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9875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30">
                <a:solidFill>
                  <a:srgbClr val="32D6A6"/>
                </a:solidFill>
                <a:latin typeface="Aptos Display"/>
                <a:ea typeface="Aptos Display"/>
                <a:cs typeface="Aptos Display"/>
              </a:rPr>
              <a:t>08 / THE ASK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2556AD4-835B-4643-952C-0703FBB2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96112"/>
            <a:ext cx="107899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3F7F4"/>
                </a:solidFill>
                <a:latin typeface="Aptos Display"/>
                <a:ea typeface="Aptos Display"/>
                <a:cs typeface="Aptos Display"/>
              </a:rPr>
              <a:t>Test whether a cash-flow estimate helps with a weekly decision.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C65158D-D6C6-4841-A592-B7ED08F5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737360"/>
            <a:ext cx="104241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8CA399"/>
                </a:solidFill>
                <a:latin typeface="Aptos"/>
                <a:ea typeface="Aptos"/>
                <a:cs typeface="Aptos"/>
              </a:rPr>
              <a:t>We need evidence of usefulness, not another feature list.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97C4E52-930D-417B-989D-FEAF84CA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88920"/>
            <a:ext cx="29260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6C14B"/>
                </a:solidFill>
                <a:latin typeface="Aptos Display"/>
                <a:ea typeface="Aptos Display"/>
                <a:cs typeface="Aptos Display"/>
              </a:rPr>
              <a:t>10–20</a:t>
            </a:r>
            <a:endParaRPr sz="3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E16F40B-9AEF-4B13-AF61-09B6E470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84448"/>
            <a:ext cx="3657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3F7F4"/>
                </a:solidFill>
                <a:latin typeface="Aptos"/>
                <a:ea typeface="Aptos"/>
                <a:cs typeface="Aptos"/>
              </a:rPr>
              <a:t>consenting pilot participants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949FD3E-1427-44A9-B460-82D196B9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788920"/>
            <a:ext cx="320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32D6A6"/>
                </a:solidFill>
                <a:latin typeface="Aptos Display"/>
                <a:ea typeface="Aptos Display"/>
                <a:cs typeface="Aptos Display"/>
              </a:rPr>
              <a:t>4 weeks</a:t>
            </a:r>
            <a:endParaRPr sz="3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312E58E-3898-47D8-81CE-CA212575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584448"/>
            <a:ext cx="3657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3F7F4"/>
                </a:solidFill>
                <a:latin typeface="Aptos"/>
                <a:ea typeface="Aptos"/>
                <a:cs typeface="Aptos"/>
              </a:rPr>
              <a:t>to test the weekly habit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DFABEE3-50D1-44A9-B478-6E182191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72000"/>
            <a:ext cx="1463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8CA399"/>
                </a:solidFill>
                <a:latin typeface="Aptos Display"/>
                <a:ea typeface="Aptos Display"/>
                <a:cs typeface="Aptos Display"/>
              </a:rPr>
              <a:t>MEASURE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12BCFCB-1A23-4B67-93ED-35F8595C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535424"/>
            <a:ext cx="8778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3F7F4"/>
                </a:solidFill>
                <a:latin typeface="Aptos"/>
                <a:ea typeface="Aptos"/>
                <a:cs typeface="Aptos"/>
              </a:rPr>
              <a:t>Weekly logging  •  set-aside action  •  forecast calibration  •  4-week return rate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C4CC1AF-7FB8-49A8-8E16-6E02865D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715000"/>
            <a:ext cx="76809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F6C14B"/>
                </a:solidFill>
                <a:latin typeface="Aptos Display"/>
                <a:ea typeface="Aptos Display"/>
                <a:cs typeface="Aptos Display"/>
              </a:rPr>
              <a:t>Boloka — Save, before you have to.</a:t>
            </a:r>
            <a:endParaRPr sz="2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999EC7A-6D38-441E-A456-C2A07F25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217920"/>
            <a:ext cx="7315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8CA399"/>
                </a:solidFill>
                <a:latin typeface="Aptos"/>
                <a:ea typeface="Aptos"/>
                <a:cs typeface="Aptos"/>
              </a:rPr>
              <a:t>Pilot targets are proposed, not completed results.</a:t>
            </a:r>
            <a:endParaRPr sz="1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272145B-A7CC-4B34-9A54-07F54B860F1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9284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8CA399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388657AE-30A1-5A7A-6A7F-315D84436430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056573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2026-10-25T08:32:28.6160000Z</dcterms:created>
  <dcterms:modified xsi:type="dcterms:W3CDTF">2026-10-25T08:32:28.6160000Z</dcterms:modified>
</coreProperties>
</file>
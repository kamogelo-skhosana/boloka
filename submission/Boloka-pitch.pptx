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14b9070964423f" /><Relationship Type="http://schemas.openxmlformats.org/officeDocument/2006/relationships/extended-properties" Target="/docProps/app.xml" Id="Ra26609e35c984369" /><Relationship Type="http://schemas.openxmlformats.org/officeDocument/2006/relationships/officeDocument" Target="/ppt/presentation.xml" Id="Rd3cafafddbb04c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935e3148aa469b"/>
  </p:sldMasterIdLst>
  <p:notesMasterIdLst>
    <p:notesMasterId xmlns:r="http://schemas.openxmlformats.org/officeDocument/2006/relationships" r:id="R39ffeea12b874e75"/>
  </p:notesMasterIdLst>
  <p:sldIdLst>
    <p:sldId xmlns:r="http://schemas.openxmlformats.org/officeDocument/2006/relationships" id="256" r:id="R82e6627904e14a95"/>
    <p:sldId xmlns:r="http://schemas.openxmlformats.org/officeDocument/2006/relationships" id="257" r:id="R6e094ea1db3940b3"/>
    <p:sldId xmlns:r="http://schemas.openxmlformats.org/officeDocument/2006/relationships" id="258" r:id="R5c2bcb73633e4f8e"/>
    <p:sldId xmlns:r="http://schemas.openxmlformats.org/officeDocument/2006/relationships" id="259" r:id="Rf8a0bad05e5c4039"/>
    <p:sldId xmlns:r="http://schemas.openxmlformats.org/officeDocument/2006/relationships" id="260" r:id="R12f91280c15044a9"/>
    <p:sldId xmlns:r="http://schemas.openxmlformats.org/officeDocument/2006/relationships" id="261" r:id="R412053d6f4024513"/>
    <p:sldId xmlns:r="http://schemas.openxmlformats.org/officeDocument/2006/relationships" id="262" r:id="Rb785e08673264289"/>
    <p:sldId xmlns:r="http://schemas.openxmlformats.org/officeDocument/2006/relationships" id="263" r:id="R54f3081c76ad4701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813368b46454247" /><Relationship Type="http://schemas.openxmlformats.org/officeDocument/2006/relationships/slideMaster" Target="/ppt/slideMasters/slideMaster1.xml" Id="R0b935e3148aa469b" /><Relationship Type="http://schemas.openxmlformats.org/officeDocument/2006/relationships/notesMaster" Target="/ppt/notesMasters/notesMaster1.xml" Id="R39ffeea12b874e75" /><Relationship Type="http://schemas.openxmlformats.org/officeDocument/2006/relationships/presProps" Target="/ppt/presProps.xml" Id="Rdada7da62f974dac" /><Relationship Type="http://schemas.openxmlformats.org/officeDocument/2006/relationships/viewProps" Target="/ppt/viewProps.xml" Id="Red141a4e2dae404e" /><Relationship Type="http://schemas.openxmlformats.org/officeDocument/2006/relationships/tableStyles" Target="/ppt/tableStyles.xml" Id="Rdb5b48b72e9441d2" /><Relationship Type="http://schemas.openxmlformats.org/officeDocument/2006/relationships/slide" Target="/ppt/slides/slide1.xml" Id="R82e6627904e14a95" /><Relationship Type="http://schemas.openxmlformats.org/officeDocument/2006/relationships/slide" Target="/ppt/slides/slide2.xml" Id="R6e094ea1db3940b3" /><Relationship Type="http://schemas.openxmlformats.org/officeDocument/2006/relationships/slide" Target="/ppt/slides/slide3.xml" Id="R5c2bcb73633e4f8e" /><Relationship Type="http://schemas.openxmlformats.org/officeDocument/2006/relationships/slide" Target="/ppt/slides/slide4.xml" Id="Rf8a0bad05e5c4039" /><Relationship Type="http://schemas.openxmlformats.org/officeDocument/2006/relationships/slide" Target="/ppt/slides/slide5.xml" Id="R12f91280c15044a9" /><Relationship Type="http://schemas.openxmlformats.org/officeDocument/2006/relationships/slide" Target="/ppt/slides/slide6.xml" Id="R412053d6f4024513" /><Relationship Type="http://schemas.openxmlformats.org/officeDocument/2006/relationships/slide" Target="/ppt/slides/slide7.xml" Id="Rb785e08673264289" /><Relationship Type="http://schemas.openxmlformats.org/officeDocument/2006/relationships/slide" Target="/ppt/slides/slide8.xml" Id="R54f3081c76ad47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421e07fd8d43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f6ab30c9e94ace" /><Relationship Type="http://schemas.openxmlformats.org/officeDocument/2006/relationships/notesMaster" Target="/ppt/notesMasters/notesMaster1.xml" Id="R38d3d758f00147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8a746d71c34557" /><Relationship Type="http://schemas.openxmlformats.org/officeDocument/2006/relationships/notesMaster" Target="/ppt/notesMasters/notesMaster1.xml" Id="Rc54396af15464c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0bc788f6a94eab" /><Relationship Type="http://schemas.openxmlformats.org/officeDocument/2006/relationships/notesMaster" Target="/ppt/notesMasters/notesMaster1.xml" Id="R9bcb22263215419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c178b5fd2c4fd3" /><Relationship Type="http://schemas.openxmlformats.org/officeDocument/2006/relationships/notesMaster" Target="/ppt/notesMasters/notesMaster1.xml" Id="Rc5f1288c30604c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4a460615e94b9d" /><Relationship Type="http://schemas.openxmlformats.org/officeDocument/2006/relationships/notesMaster" Target="/ppt/notesMasters/notesMaster1.xml" Id="R60232f287964420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a82fd3fd7a4e89" /><Relationship Type="http://schemas.openxmlformats.org/officeDocument/2006/relationships/notesMaster" Target="/ppt/notesMasters/notesMaster1.xml" Id="R08b011d79bb34f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4e3666d95946e1" /><Relationship Type="http://schemas.openxmlformats.org/officeDocument/2006/relationships/notesMaster" Target="/ppt/notesMasters/notesMaster1.xml" Id="Rfac15db80d5442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c9f0bcb21024992" /><Relationship Type="http://schemas.openxmlformats.org/officeDocument/2006/relationships/notesMaster" Target="/ppt/notesMasters/notesMaster1.xml" Id="R53fcf4000a0f4b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income bars illustrate an irregular pattern only; they are not survey or market data. Official hackathon programme asks teams to focus on user value, adoption, and evidence: https://appoftheyear.co.za/live-stream/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Kea is an illustrative demo persona, not an interview participant. Validate this need with users before making research claims.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R150 figure is a script example, not a current app result. Forecasts are estimates and should not be presented as financial advice.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official past winners page includes products such as Easy Equities and StokFella; product-market fit and usefulness matter more than feature count. Source: https://appoftheyear.co.za/past-winners/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10–20 participant, four-week pilot is a proposed validation plan, not a completed study.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296bf093764ee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0524520cbc481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OLoka">
    <p:bg>
      <p:bgPr>
        <a:solidFill xmlns:a="http://schemas.openxmlformats.org/drawingml/2006/main">
          <a:srgbClr val="0C15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A43B464-187B-48F3-BD58-B2C5A42E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/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D04BE11-13C9-4298-8F45-CCB7AB9A7BB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e7ee622d4e46ff" /><Relationship Type="http://schemas.openxmlformats.org/officeDocument/2006/relationships/slideLayout" Target="/ppt/slideLayouts/slideLayout1.xml" Id="R3df0a4550a844d33" /><Relationship Type="http://schemas.openxmlformats.org/officeDocument/2006/relationships/slideLayout" Target="/ppt/slideLayouts/slideLayout2.xml" Id="Re678e642cc5d49f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3E1CF4E-1B12-4CD9-BF80-4E16D9E5C47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f0a4550a844d33"/>
    <p:sldLayoutId xmlns:r="http://schemas.openxmlformats.org/officeDocument/2006/relationships" id="2147483650" r:id="Re678e642cc5d49f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914843901a4dbe" /><Relationship Type="http://schemas.openxmlformats.org/officeDocument/2006/relationships/notesSlide" Target="/ppt/notesSlides/notesSlide1.xml" Id="Rbbd3b60f93a244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db3bd592964299" /><Relationship Type="http://schemas.openxmlformats.org/officeDocument/2006/relationships/notesSlide" Target="/ppt/notesSlides/notesSlide2.xml" Id="Rdad0015506924d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ce00b59a4c4ecc" /><Relationship Type="http://schemas.openxmlformats.org/officeDocument/2006/relationships/notesSlide" Target="/ppt/notesSlides/notesSlide3.xml" Id="Rb9c49cc473384f4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0df6c3ab4243bc" /><Relationship Type="http://schemas.openxmlformats.org/officeDocument/2006/relationships/notesSlide" Target="/ppt/notesSlides/notesSlide4.xml" Id="R084e180da4814d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4fac6c7eb84fa7" /><Relationship Type="http://schemas.openxmlformats.org/officeDocument/2006/relationships/notesSlide" Target="/ppt/notesSlides/notesSlide5.xml" Id="R8d9c536c8bca40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3f44b7058c41e8" /><Relationship Type="http://schemas.openxmlformats.org/officeDocument/2006/relationships/notesSlide" Target="/ppt/notesSlides/notesSlide6.xml" Id="R93a7db89b4224a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b98df4148e4eae" /><Relationship Type="http://schemas.openxmlformats.org/officeDocument/2006/relationships/notesSlide" Target="/ppt/notesSlides/notesSlide7.xml" Id="Ra3f40744c9814e1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442bcb19de4001" /><Relationship Type="http://schemas.openxmlformats.org/officeDocument/2006/relationships/notesSlide" Target="/ppt/notesSlides/notesSlide8.xml" Id="Rcf6ab43fbf224cf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A19F50A-3687-4755-BE16-D2BF9D1F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58368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2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THAKA  /  FINANCIAL INCLUSION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20FB043-442C-4E1D-A4A0-C5D1B9CB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08760"/>
            <a:ext cx="9966960" cy="1993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Income comes in waves.</a:t>
            </a:r>
            <a:endParaRPr sz="3800"/>
          </a:p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Expenses don’t.</a:t>
            </a:r>
            <a:endParaRPr sz="3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5464FD0-121A-4CC6-B80D-A0B94980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3886200"/>
            <a:ext cx="78638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8CA399"/>
                </a:solidFill>
                <a:latin typeface="Aptos"/>
                <a:ea typeface="Aptos"/>
                <a:cs typeface="Aptos"/>
              </a:rPr>
              <a:t>Boloka helps gig workers prepare for the week that gets tight.</a:t>
            </a:r>
            <a:endParaRPr sz="21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C88F1F8-C943-4C6E-8696-A377D140B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4882896"/>
            <a:ext cx="298094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0480">
            <a:solidFill>
              <a:srgbClr val="F6C14B"/>
            </a:solidFill>
            <a:prstDash val="solid"/>
            <a:headEnd type="none"/>
            <a:tailEnd type="none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D796DF1-6E1E-4183-8DBD-E040E72C5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5093208"/>
            <a:ext cx="51206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 spc="100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SAVE, BEFORE YOU HAVE TO.</a:t>
            </a:r>
            <a:endParaRPr sz="1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E481011-B522-4333-A390-7E77B965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6236208"/>
            <a:ext cx="6949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8CA399"/>
                </a:solidFill>
                <a:latin typeface="Aptos"/>
                <a:ea typeface="Aptos"/>
                <a:cs typeface="Aptos"/>
              </a:rPr>
              <a:t>A working prototype • Synthetic demo data</a:t>
            </a:r>
            <a:endParaRPr sz="10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9735D71-13CA-4F54-8925-15B432C8AA3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9118698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9C1816D-137C-4BCE-A6BC-98E69AB5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98755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3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01 / THE PROBLEM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B0F2340-4F6A-4082-AB31-D8EB480B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896112"/>
            <a:ext cx="107899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Irregular income. Regular bills.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AB86F74-CFCC-44C7-94C8-937058CD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737360"/>
            <a:ext cx="104241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A balance shows today. It does not show whether the next bill will arrive before the next payout.</a:t>
            </a:r>
            <a:endParaRPr sz="1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4B04EFF-0C49-444E-A415-A60C834D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97840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F0FEBD7-910C-4362-9A1A-90C3DCBA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135374"/>
            <a:ext cx="393192" cy="1030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AB6C3B2-5C32-4A5C-B559-ABFF5DE8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6272" y="4753966"/>
            <a:ext cx="393192" cy="4123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BC21FA3-772F-40F9-916A-3494056B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3629254"/>
            <a:ext cx="393192" cy="153710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E2743E3-FCB0-495B-96C2-99779078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4828946"/>
            <a:ext cx="393192" cy="3374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DEFDB63-9A05-4C80-A37E-336D8EC4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4266590"/>
            <a:ext cx="393192" cy="8997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6691700-66C8-4A53-A210-6E140572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3854196"/>
            <a:ext cx="393192" cy="13121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4D63DA2-4F37-4197-B6BE-91A519A6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4660240"/>
            <a:ext cx="393192" cy="506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417B33E-9803-4729-879C-B8C18B1F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516782"/>
            <a:ext cx="393192" cy="16495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31E7298-DB36-477A-9230-60451212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4604004"/>
            <a:ext cx="393192" cy="5623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D6A6">
              <a:alpha val="88000"/>
            </a:srgbClr>
          </a:solidFill>
          <a:ln xmlns:a="http://schemas.openxmlformats.org/drawingml/2006/main" w="12700">
            <a:solidFill>
              <a:srgbClr val="32D6A6">
                <a:alpha val="0"/>
              </a:srgbClr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ED1DBF5-DB21-4AF1-9545-4807F594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97840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F6C14B"/>
            </a:solidFill>
            <a:prstDash val="solid"/>
            <a:headEnd type="none"/>
            <a:tailEnd type="none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579AC41-6B95-42A8-9C2B-7637173D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PAYOUTS</a:t>
            </a:r>
            <a:endParaRPr sz="1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5BD8052-B1FF-4F7D-B779-580C944A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547872"/>
            <a:ext cx="2377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b="1" spc="40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RECURRING COSTS</a:t>
            </a:r>
            <a:endParaRPr sz="10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95195A9-6FAC-4AFC-BF0A-ABE3CCD7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77840"/>
            <a:ext cx="6583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One strong week can be followed by a quiet one.</a:t>
            </a:r>
            <a:endParaRPr sz="17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1C5E50B-D806-44A5-9F92-606CD2E7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7608"/>
            <a:ext cx="6583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spc="50">
                <a:solidFill>
                  <a:srgbClr val="8CA399"/>
                </a:solidFill>
                <a:latin typeface="Aptos"/>
                <a:ea typeface="Aptos"/>
                <a:cs typeface="Aptos"/>
              </a:rPr>
              <a:t>ILLUSTRATIVE PATTERN — NOT USER RESEARCH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66E7866-7CB7-4E58-A418-8DA17BB7010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660465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8DD2BB8-6BC1-4CFB-8258-C27823A4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98755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3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02 / THE PERSON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C714901-5BB3-4092-9515-6CDE735D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896112"/>
            <a:ext cx="107899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A ledger records the past. Kea needs a heads-up.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9D3B6E1-530E-42AF-8B9B-1DC5CA99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737360"/>
            <a:ext cx="104241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Illustrative demo story — validate with real users before treating it as research.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A51B6C3-14BF-43BC-BEB7-D1C9A640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2834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KEA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992576B-D378-4A05-B3F4-A18ABE4D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493008"/>
            <a:ext cx="3383280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900">
                <a:solidFill>
                  <a:srgbClr val="F3F7F4"/>
                </a:solidFill>
                <a:latin typeface="Aptos"/>
                <a:ea typeface="Aptos"/>
                <a:cs typeface="Aptos"/>
              </a:rPr>
              <a:t>Freelance work</a:t>
            </a:r>
            <a:endParaRPr sz="1900"/>
          </a:p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900">
                <a:solidFill>
                  <a:srgbClr val="F3F7F4"/>
                </a:solidFill>
                <a:latin typeface="Aptos"/>
                <a:ea typeface="Aptos"/>
                <a:cs typeface="Aptos"/>
              </a:rPr>
              <a:t>Delivery shifts</a:t>
            </a:r>
            <a:endParaRPr sz="1900"/>
          </a:p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900">
                <a:solidFill>
                  <a:srgbClr val="F3F7F4"/>
                </a:solidFill>
                <a:latin typeface="Aptos"/>
                <a:ea typeface="Aptos"/>
                <a:cs typeface="Aptos"/>
              </a:rPr>
              <a:t>Rent due monthly</a:t>
            </a:r>
            <a:endParaRPr sz="1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299131F-724E-4D3E-9D3E-D238FEF6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2880360"/>
            <a:ext cx="0" cy="24688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218FCFB-CC08-4956-BAA8-72F5BBAE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07792"/>
            <a:ext cx="5943600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“Will the money last</a:t>
            </a:r>
            <a:endParaRPr sz="2600"/>
          </a:p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until rent is paid?”</a:t>
            </a:r>
            <a:endParaRPr sz="2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508CC9C-75AE-4F3B-A8E5-868B760B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4709160"/>
            <a:ext cx="5486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The decision comes before the shortfall.</a:t>
            </a:r>
            <a:endParaRPr sz="17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4128AE1-574A-4BCB-899A-9D330CA7618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39626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AFD6DC3-E032-4C31-BDD4-A10BC0FB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98755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3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03 / THE PRODUCT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9DEB9B-B540-42D6-8C61-8BFC2BC95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896112"/>
            <a:ext cx="107899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Turn a record into one useful next step.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81629A8-2378-4640-B151-3AF9A34C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737360"/>
            <a:ext cx="104241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Boloka works with the information a user chooses to enter. No bank password or account connection.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A11857A-3984-4CD0-BB32-88717CB3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61488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1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AAD1712-9228-4524-8F86-58459016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747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100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LOG</a:t>
            </a:r>
            <a:endParaRPr sz="13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17F204F-4D4C-4619-8FF5-D4E53C31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7640"/>
            <a:ext cx="28346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8CA399"/>
                </a:solidFill>
                <a:latin typeface="Aptos"/>
                <a:ea typeface="Aptos"/>
                <a:cs typeface="Aptos"/>
              </a:rPr>
              <a:t>Payouts and bills</a:t>
            </a:r>
            <a:endParaRPr sz="1700"/>
          </a:p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8CA399"/>
                </a:solidFill>
                <a:latin typeface="Aptos"/>
                <a:ea typeface="Aptos"/>
                <a:cs typeface="Aptos"/>
              </a:rPr>
              <a:t>in rand and cents</a:t>
            </a:r>
            <a:endParaRPr sz="17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1489635-72A0-4B2D-B4CE-D15ED625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54096"/>
            <a:ext cx="22402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56B0E0C-A625-4275-AC6D-101837E3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61488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2</a:t>
            </a:r>
            <a:endParaRPr sz="3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6DAE18B-51EE-4C8B-8FF2-7982FA72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747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100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LOOK AHEAD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0B28398-8FB4-44AE-AF34-E870A465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77640"/>
            <a:ext cx="28346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8CA399"/>
                </a:solidFill>
                <a:latin typeface="Aptos"/>
                <a:ea typeface="Aptos"/>
                <a:cs typeface="Aptos"/>
              </a:rPr>
              <a:t>A 30-day cash-flow</a:t>
            </a:r>
            <a:endParaRPr sz="1700"/>
          </a:p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8CA399"/>
                </a:solidFill>
                <a:latin typeface="Aptos"/>
                <a:ea typeface="Aptos"/>
                <a:cs typeface="Aptos"/>
              </a:rPr>
              <a:t>estimate and confidence</a:t>
            </a:r>
            <a:endParaRPr sz="17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B7BA8BBA-F32A-4732-A002-40C69DD6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054096"/>
            <a:ext cx="22402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0ED6D12-FBBC-4C8A-A8DB-68C5DA4F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61488"/>
            <a:ext cx="56692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3</a:t>
            </a:r>
            <a:endParaRPr sz="3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5AA9F8E-9E5B-4D0F-97BA-FEC760AE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747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100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ACT</a:t>
            </a:r>
            <a:endParaRPr sz="13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8AE68A4-A73C-4E68-A737-CB257405D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77640"/>
            <a:ext cx="28346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8CA399"/>
                </a:solidFill>
                <a:latin typeface="Aptos"/>
                <a:ea typeface="Aptos"/>
                <a:cs typeface="Aptos"/>
              </a:rPr>
              <a:t>A dated warning and</a:t>
            </a:r>
            <a:endParaRPr sz="1700"/>
          </a:p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8CA399"/>
                </a:solidFill>
                <a:latin typeface="Aptos"/>
                <a:ea typeface="Aptos"/>
                <a:cs typeface="Aptos"/>
              </a:rPr>
              <a:t>weekly set-aside idea</a:t>
            </a:r>
            <a:endParaRPr sz="17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35AAC4F-8DFF-4FD8-95CA-801E9F80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2120"/>
            <a:ext cx="95097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A recommendation is only useful if the person can see why it was made.</a:t>
            </a:r>
            <a:endParaRPr sz="17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393D09B-A735-4D48-AE5D-6D95AB33736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2538571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8B91569-1081-4835-8B0A-A20C8C4A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98755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3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04 / THE DIFFERENTIATOR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CC6B7F8-CFB0-474B-A5FD-699D56CC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896112"/>
            <a:ext cx="107899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The “why” travels with the number.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44190D4-A523-4C5F-8157-57DE6C5F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737360"/>
            <a:ext cx="104241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A forecast should make uncertainty visible, especially when the user has little history.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611280B-A533-46BD-8101-009B4C4E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43200"/>
            <a:ext cx="384048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800" b="1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R 150</a:t>
            </a:r>
            <a:endParaRPr sz="48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F09FDD3-9C87-4C74-808C-8A05A08B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30752"/>
            <a:ext cx="4389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Illustrative weekly buffer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9420A6-F951-425C-8651-62C3026C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788920"/>
            <a:ext cx="56692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F3F7F4"/>
                </a:solidFill>
                <a:latin typeface="Aptos"/>
                <a:ea typeface="Aptos"/>
                <a:cs typeface="Aptos"/>
              </a:rPr>
              <a:t>“Your recent income is uneven and rent is due soon. Saving a small amount each week builds a cushion.”</a:t>
            </a:r>
            <a:endParaRPr sz="22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32C9628-E6B4-4281-B15B-592F1AA0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617720"/>
            <a:ext cx="480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28F93D8-6B66-4F5B-A5EA-951E54C5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937760"/>
            <a:ext cx="3108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8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CONFIDENCE: LABELLED</a:t>
            </a:r>
            <a:endParaRPr sz="11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5EA6487-A436-471C-B14A-1E1372F4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87568"/>
            <a:ext cx="987552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8CA399"/>
                </a:solidFill>
                <a:latin typeface="Aptos"/>
                <a:ea typeface="Aptos"/>
                <a:cs typeface="Aptos"/>
              </a:rPr>
              <a:t>This is an example message, not a live prediction or personal financial advice.</a:t>
            </a:r>
            <a:endParaRPr sz="1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022E9F9-F8FD-40A7-B11F-5BEA5C7E65F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986686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8807B7C-8589-4030-BA3D-F596299F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98755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3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05 / DESIGNED FOR TRUST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C3A594E-82F3-438E-ADAF-D82F1D9B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896112"/>
            <a:ext cx="107899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Useful only if people can trust the inputs and limits.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307EA32-B28E-4628-B7DD-8C5A9735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267712"/>
            <a:ext cx="25146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Data minimisation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19BAF39-4E1D-4E00-9E5D-E02B006F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267712"/>
            <a:ext cx="7589520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F3F7F4"/>
                </a:solidFill>
                <a:latin typeface="Aptos"/>
                <a:ea typeface="Aptos"/>
                <a:cs typeface="Aptos"/>
              </a:rPr>
              <a:t>No bank login or account aggregation in the prototype.</a:t>
            </a:r>
            <a:endParaRPr sz="17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BEC9B5F-4D0A-4D69-B1D0-55E08DEE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834640"/>
            <a:ext cx="100766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16EA37E-890C-41CA-942C-8C5A67B4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072384"/>
            <a:ext cx="25146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Clear ownership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D5A9AF3-DB33-4C96-B357-A5397CF5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072384"/>
            <a:ext cx="7589520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F3F7F4"/>
                </a:solidFill>
                <a:latin typeface="Aptos"/>
                <a:ea typeface="Aptos"/>
                <a:cs typeface="Aptos"/>
              </a:rPr>
              <a:t>Authenticated users can access their own transaction rows.</a:t>
            </a:r>
            <a:endParaRPr sz="17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9C3163A-64FF-4D97-9105-3B184CEF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639312"/>
            <a:ext cx="100766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C5C9CFD-232A-4C56-BDCB-F4CCA31F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877056"/>
            <a:ext cx="25146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Honest uncertainty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3206618-2464-4A4B-803B-9AFADFEE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877056"/>
            <a:ext cx="7589520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F3F7F4"/>
                </a:solidFill>
                <a:latin typeface="Aptos"/>
                <a:ea typeface="Aptos"/>
                <a:cs typeface="Aptos"/>
              </a:rPr>
              <a:t>Sparse history gets a low-confidence heuristic, not false precision.</a:t>
            </a:r>
            <a:endParaRPr sz="17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E7B91410-D5BB-4421-8A63-BE7E107C6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443984"/>
            <a:ext cx="100766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7034680-8190-4E96-9CB7-6782FABC7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681728"/>
            <a:ext cx="251460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Explainable action</a:t>
            </a:r>
            <a:endParaRPr sz="15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4BA7044-199E-49D8-B050-A8C97CC2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4681728"/>
            <a:ext cx="7589520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F3F7F4"/>
                </a:solidFill>
                <a:latin typeface="Aptos"/>
                <a:ea typeface="Aptos"/>
                <a:cs typeface="Aptos"/>
              </a:rPr>
              <a:t>The set-aside suggestion includes a plain-language reason.</a:t>
            </a:r>
            <a:endParaRPr sz="17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8F4E884-40A8-4703-8271-94881464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870448"/>
            <a:ext cx="10241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8CA399"/>
                </a:solidFill>
                <a:latin typeface="Aptos"/>
                <a:ea typeface="Aptos"/>
                <a:cs typeface="Aptos"/>
              </a:rPr>
              <a:t>Security rules and forecast calibration still need review before real-money decisions.</a:t>
            </a:r>
            <a:endParaRPr sz="1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79DC0DB-CEBD-49C1-9462-42D98BC6260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74163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6878712-9A9C-4C3B-9EA1-9D755AB8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98755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3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06 / PATH TO ADOPTION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1B12F3D-567B-4C70-AAD1-BBA18722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896112"/>
            <a:ext cx="107899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Start with a habit. Earn the right to scale.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68DF88C-A3B8-435A-8754-682ECD94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737360"/>
            <a:ext cx="104241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Avoid adding features until the weekly cash-flow action helps people return and act.</a:t>
            </a:r>
            <a:endParaRPr sz="1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1A72E0A-3A29-4BE5-9471-F4225427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71800"/>
            <a:ext cx="97383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3D35"/>
            </a:solidFill>
            <a:prstDash val="solid"/>
            <a:headEnd type="none"/>
            <a:tailEnd type="none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F8BCE60-BD3B-4D83-B797-86028A51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16352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512"/>
          </a:solidFill>
          <a:ln xmlns:a="http://schemas.openxmlformats.org/drawingml/2006/main" w="12700">
            <a:solidFill>
              <a:srgbClr val="32D6A6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A152790-755A-46B7-B086-BA85B44B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29000"/>
            <a:ext cx="2377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8CA399"/>
                </a:solidFill>
                <a:latin typeface="Aptos Display"/>
                <a:ea typeface="Aptos Display"/>
                <a:cs typeface="Aptos Display"/>
              </a:rPr>
              <a:t>NOW</a:t>
            </a:r>
            <a:endParaRPr sz="1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3B4DAAC-F69B-4EBD-833C-877EA496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85616"/>
            <a:ext cx="27432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Prototype</a:t>
            </a:r>
            <a:endParaRPr sz="20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3987C6C-86B2-4A89-8D54-CD4CB0A4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8346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Synthetic demo</a:t>
            </a:r>
            <a:endParaRPr sz="1500"/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Core forecast flow</a:t>
            </a:r>
            <a:endParaRPr sz="15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BE3D7C6-FD54-4F9A-8272-F6C57C8F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816352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512"/>
          </a:solidFill>
          <a:ln xmlns:a="http://schemas.openxmlformats.org/drawingml/2006/main" w="12700">
            <a:solidFill>
              <a:srgbClr val="F6C14B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154B31F-73FD-4810-BFD6-5968BE58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429000"/>
            <a:ext cx="2377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8CA399"/>
                </a:solidFill>
                <a:latin typeface="Aptos Display"/>
                <a:ea typeface="Aptos Display"/>
                <a:cs typeface="Aptos Display"/>
              </a:rPr>
              <a:t>NEXT</a:t>
            </a:r>
            <a:endParaRPr sz="10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50DE0D1-B63E-4FB5-8B1B-621B86E3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785616"/>
            <a:ext cx="27432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Small pilot</a:t>
            </a:r>
            <a:endParaRPr sz="2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EFB1A5B-ABF4-4235-A9B5-2550EB3C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407408"/>
            <a:ext cx="28346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10–20 consenting users</a:t>
            </a:r>
            <a:endParaRPr sz="1500"/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4 weeks, one partner</a:t>
            </a:r>
            <a:endParaRPr sz="15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001F04B-7EC0-48D5-92FB-8567E054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2816352"/>
            <a:ext cx="310896" cy="3108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512"/>
          </a:solidFill>
          <a:ln xmlns:a="http://schemas.openxmlformats.org/drawingml/2006/main" w="12700">
            <a:solidFill>
              <a:srgbClr val="32D6A6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8B916D4-3BE1-4E97-ACA7-D97BC0BF7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3429000"/>
            <a:ext cx="2377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8CA399"/>
                </a:solidFill>
                <a:latin typeface="Aptos Display"/>
                <a:ea typeface="Aptos Display"/>
                <a:cs typeface="Aptos Display"/>
              </a:rPr>
              <a:t>IF IT WORKS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B951402-1F7B-4F54-96C9-58695DA0C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3785616"/>
            <a:ext cx="27432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Partnerships</a:t>
            </a:r>
            <a:endParaRPr sz="2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DCBE953-6A86-459F-9542-B51A4CD8E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4407408"/>
            <a:ext cx="28346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Worker groups</a:t>
            </a:r>
            <a:endParaRPr sz="1500"/>
          </a:p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Platforms or educators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78467C2-D6FF-499F-A4C6-219249223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669280"/>
            <a:ext cx="10241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F3F7F4"/>
                </a:solidFill>
                <a:latin typeface="Aptos"/>
                <a:ea typeface="Aptos"/>
                <a:cs typeface="Aptos"/>
              </a:rPr>
              <a:t>Business model hypothesis: free individual planning; later, opt-in partner support. No personal data sales.</a:t>
            </a:r>
            <a:endParaRPr sz="13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8576D8-B20D-4DA5-BAC7-CC0B75519DF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246012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248621A-7503-4A6F-8FB0-D55B6E41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5488"/>
            <a:ext cx="98755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30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07 / THE ASK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2556AD4-835B-4643-952C-0703FBB2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896112"/>
            <a:ext cx="1078992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3F7F4"/>
                </a:solidFill>
                <a:latin typeface="Aptos Display"/>
                <a:ea typeface="Aptos Display"/>
                <a:cs typeface="Aptos Display"/>
              </a:rPr>
              <a:t>Help us test whether the warning changes a week.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C65158D-D6C6-4841-A592-B7ED08F5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737360"/>
            <a:ext cx="104241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CA399"/>
                </a:solidFill>
                <a:latin typeface="Aptos"/>
                <a:ea typeface="Aptos"/>
                <a:cs typeface="Aptos"/>
              </a:rPr>
              <a:t>We need evidence of usefulness, not another feature list.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97C4E52-930D-417B-989D-FEAF84CA4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88920"/>
            <a:ext cx="2926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10–20</a:t>
            </a:r>
            <a:endParaRPr sz="3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E16F40B-9AEF-4B13-AF61-09B6E470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84448"/>
            <a:ext cx="3657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F3F7F4"/>
                </a:solidFill>
                <a:latin typeface="Aptos"/>
                <a:ea typeface="Aptos"/>
                <a:cs typeface="Aptos"/>
              </a:rPr>
              <a:t>consenting pilot participants</a:t>
            </a:r>
            <a:endParaRPr sz="1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949FD3E-1427-44A9-B460-82D196B9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788920"/>
            <a:ext cx="320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32D6A6"/>
                </a:solidFill>
                <a:latin typeface="Aptos Display"/>
                <a:ea typeface="Aptos Display"/>
                <a:cs typeface="Aptos Display"/>
              </a:rPr>
              <a:t>4 weeks</a:t>
            </a:r>
            <a:endParaRPr sz="3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312E58E-3898-47D8-81CE-CA212575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584448"/>
            <a:ext cx="3657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F3F7F4"/>
                </a:solidFill>
                <a:latin typeface="Aptos"/>
                <a:ea typeface="Aptos"/>
                <a:cs typeface="Aptos"/>
              </a:rPr>
              <a:t>to test the weekly habit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DFABEE3-50D1-44A9-B478-6E182191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72000"/>
            <a:ext cx="1463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8CA399"/>
                </a:solidFill>
                <a:latin typeface="Aptos Display"/>
                <a:ea typeface="Aptos Display"/>
                <a:cs typeface="Aptos Display"/>
              </a:rPr>
              <a:t>MEASURE</a:t>
            </a:r>
            <a:endParaRPr sz="11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12BCFCB-1A23-4B67-93ED-35F8595C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535424"/>
            <a:ext cx="8778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F3F7F4"/>
                </a:solidFill>
                <a:latin typeface="Aptos"/>
                <a:ea typeface="Aptos"/>
                <a:cs typeface="Aptos"/>
              </a:rPr>
              <a:t>Weekly logging  •  set-aside action  •  forecast calibration  •  4-week return rate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C4CC1AF-7FB8-49A8-8E16-6E02865D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715000"/>
            <a:ext cx="76809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F6C14B"/>
                </a:solidFill>
                <a:latin typeface="Aptos Display"/>
                <a:ea typeface="Aptos Display"/>
                <a:cs typeface="Aptos Display"/>
              </a:rPr>
              <a:t>Boloka — Save, before you have to.</a:t>
            </a:r>
            <a:endParaRPr sz="21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999EC7A-6D38-441E-A456-C2A07F25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6217920"/>
            <a:ext cx="7315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8CA399"/>
                </a:solidFill>
                <a:latin typeface="Aptos"/>
                <a:ea typeface="Aptos"/>
                <a:cs typeface="Aptos"/>
              </a:rPr>
              <a:t>Pilot targets are proposed, not completed results.</a:t>
            </a:r>
            <a:endParaRPr sz="10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272145B-A7CC-4B34-9A54-07F54B860F1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928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CA399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0056573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2026-10-24T17:20:41.0620000Z</dcterms:created>
  <dcterms:modified xsi:type="dcterms:W3CDTF">2026-10-24T17:20:41.0620000Z</dcterms:modified>
</coreProperties>
</file>